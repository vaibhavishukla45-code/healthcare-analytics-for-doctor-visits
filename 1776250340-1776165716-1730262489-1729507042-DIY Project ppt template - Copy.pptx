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4"/>
  </p:notesMasterIdLst>
  <p:handoutMasterIdLst>
    <p:handoutMasterId r:id="rId15"/>
  </p:handoutMasterIdLst>
  <p:sldIdLst>
    <p:sldId id="338" r:id="rId5"/>
    <p:sldId id="327" r:id="rId6"/>
    <p:sldId id="315" r:id="rId7"/>
    <p:sldId id="329" r:id="rId8"/>
    <p:sldId id="302" r:id="rId9"/>
    <p:sldId id="339" r:id="rId10"/>
    <p:sldId id="340" r:id="rId11"/>
    <p:sldId id="341" r:id="rId12"/>
    <p:sldId id="304"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6" d="100"/>
          <a:sy n="96" d="100"/>
        </p:scale>
        <p:origin x="82" y="298"/>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567777" y="4141999"/>
            <a:ext cx="3145183" cy="861497"/>
          </a:xfrm>
        </p:spPr>
        <p:txBody>
          <a:bodyPr>
            <a:normAutofit fontScale="85000" lnSpcReduction="10000"/>
          </a:bodyPr>
          <a:lstStyle/>
          <a:p>
            <a:pPr algn="r"/>
            <a:r>
              <a:rPr lang="en-US" b="0" dirty="0">
                <a:solidFill>
                  <a:schemeClr val="tx1"/>
                </a:solidFill>
              </a:rPr>
              <a:t>  Vaibhavi Shukla</a:t>
            </a:r>
          </a:p>
          <a:p>
            <a:pPr algn="r"/>
            <a:r>
              <a:rPr lang="en-IN" b="0" dirty="0">
                <a:solidFill>
                  <a:schemeClr val="tx1"/>
                </a:solidFill>
              </a:rPr>
              <a:t>STU690cb34e4f5eb1762440014</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446643" y="2050552"/>
            <a:ext cx="4333461" cy="1487777"/>
          </a:xfrm>
        </p:spPr>
        <p:txBody>
          <a:bodyPr>
            <a:normAutofit fontScale="90000"/>
          </a:bodyPr>
          <a:lstStyle/>
          <a:p>
            <a:r>
              <a:rPr lang="en-GB" sz="3200" dirty="0"/>
              <a:t>Project Title – Healthcare Analytics for Doctor </a:t>
            </a:r>
            <a:r>
              <a:rPr lang="en-GB" sz="3200" dirty="0" err="1"/>
              <a:t>Visits_TIRTC</a:t>
            </a:r>
            <a:r>
              <a:rPr lang="en-GB" sz="3200" dirty="0"/>
              <a:t>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2250218"/>
            <a:ext cx="6252817" cy="3649649"/>
          </a:xfrm>
        </p:spPr>
        <p:txBody>
          <a:bodyPr>
            <a:normAutofit fontScale="62500" lnSpcReduction="20000"/>
          </a:bodyPr>
          <a:lstStyle/>
          <a:p>
            <a:r>
              <a:rPr lang="en-IN" sz="2800" dirty="0"/>
              <a:t>Healthcare utilization can vary considerably among individuals because of differences in age, socioeconomic conditions, illness, health status, insurance coverage, and chronic health conditions.</a:t>
            </a:r>
          </a:p>
          <a:p>
            <a:r>
              <a:rPr lang="en-IN" sz="2800" dirty="0"/>
              <a:t>The problem addressed by this project is to </a:t>
            </a:r>
            <a:r>
              <a:rPr lang="en-IN" sz="2800" b="1" dirty="0" err="1"/>
              <a:t>analyze</a:t>
            </a:r>
            <a:r>
              <a:rPr lang="en-IN" sz="2800" b="1" dirty="0"/>
              <a:t> the factors associated with the frequency of doctor visits and identify meaningful patterns in healthcare utilization</a:t>
            </a:r>
            <a:r>
              <a:rPr lang="en-IN" sz="2800" dirty="0"/>
              <a:t>.</a:t>
            </a:r>
          </a:p>
          <a:p>
            <a:r>
              <a:rPr lang="en-IN" sz="2800" dirty="0"/>
              <a:t>By studying the available patient information, the project aims to understand whether factors such as illness, reduced activity, poor health, chronic conditions, income, and healthcare coverage are associated with a higher or lower number of doctor visits.</a:t>
            </a:r>
          </a:p>
          <a:p>
            <a:endParaRPr lang="en-IN" sz="2800" dirty="0"/>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1" y="550417"/>
            <a:ext cx="6433377" cy="5644826"/>
          </a:xfrm>
        </p:spPr>
        <p:txBody>
          <a:bodyPr>
            <a:normAutofit/>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400" y="805213"/>
            <a:ext cx="5978940" cy="5484269"/>
          </a:xfrm>
        </p:spPr>
        <p:txBody>
          <a:bodyPr>
            <a:normAutofit fontScale="90000"/>
          </a:bodyPr>
          <a:lstStyle/>
          <a:p>
            <a:r>
              <a:rPr lang="en-GB" dirty="0"/>
              <a:t>Project Description-</a:t>
            </a:r>
            <a:br>
              <a:rPr lang="en-GB" dirty="0"/>
            </a:br>
            <a:br>
              <a:rPr lang="en-GB" dirty="0"/>
            </a:br>
            <a:r>
              <a:rPr lang="en-IN" sz="1600" dirty="0"/>
              <a:t>Healthcare analytics aims to understand the factors that influence patients' visits to doctors and healthcare facilities. The objective of this project is to </a:t>
            </a:r>
            <a:r>
              <a:rPr lang="en-IN" sz="1600" dirty="0" err="1"/>
              <a:t>analyze</a:t>
            </a:r>
            <a:r>
              <a:rPr lang="en-IN" sz="1600" dirty="0"/>
              <a:t> patient demographic, economic, health, and chronic-condition data to identify the key factors associated with the frequency of doctor visits.</a:t>
            </a:r>
            <a:br>
              <a:rPr lang="en-IN" sz="1600" dirty="0"/>
            </a:br>
            <a:r>
              <a:rPr lang="en-IN" sz="1600" dirty="0"/>
              <a:t>The dataset contains information such as gender, age, income, illness, reduced activity, general health status, private insurance coverage, free healthcare eligibility, and chronic illnesses. By </a:t>
            </a:r>
            <a:r>
              <a:rPr lang="en-IN" sz="1600" dirty="0" err="1"/>
              <a:t>analyzing</a:t>
            </a:r>
            <a:r>
              <a:rPr lang="en-IN" sz="1600" dirty="0"/>
              <a:t> these variables, the project seeks to understand patterns in healthcare utilization and determine which patient characteristics are associated with higher or lower numbers of doctor visits.</a:t>
            </a:r>
            <a:br>
              <a:rPr lang="en-IN" sz="1600" dirty="0"/>
            </a:br>
            <a:r>
              <a:rPr lang="en-IN" sz="1600" dirty="0"/>
              <a:t>The analysis can help identify healthcare utilization patterns, high-risk groups, and socioeconomic or health-related factors affecting access to and use of medical services. These insights can potentially support better healthcare planning, resource allocation, and patient-care strategies.</a:t>
            </a:r>
            <a:br>
              <a:rPr lang="en-IN" sz="1600" dirty="0"/>
            </a:br>
            <a:br>
              <a:rPr lang="en-GB" dirty="0"/>
            </a:br>
            <a:br>
              <a:rPr lang="en-GB" sz="1600" dirty="0">
                <a:latin typeface="Aptos" panose="020B0004020202020204" pitchFamily="34" charset="0"/>
              </a:rPr>
            </a:br>
            <a:endParaRPr lang="en-IN" sz="1600" dirty="0">
              <a:latin typeface="Aptos" panose="020B0004020202020204" pitchFamily="34"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2122998"/>
            <a:ext cx="7904481" cy="3713259"/>
          </a:xfrm>
        </p:spPr>
        <p:txBody>
          <a:bodyPr>
            <a:normAutofit fontScale="40000" lnSpcReduction="20000"/>
          </a:bodyPr>
          <a:lstStyle/>
          <a:p>
            <a:r>
              <a:rPr lang="en-IN" sz="3600" dirty="0"/>
              <a:t>The </a:t>
            </a:r>
            <a:r>
              <a:rPr lang="en-IN" sz="3600" b="1" dirty="0"/>
              <a:t>end users</a:t>
            </a:r>
            <a:r>
              <a:rPr lang="en-IN" sz="3600" dirty="0"/>
              <a:t> of the Healthcare Analytics for Doctor Visits project can include:</a:t>
            </a:r>
          </a:p>
          <a:p>
            <a:pPr lvl="0"/>
            <a:r>
              <a:rPr lang="en-IN" sz="3600" b="1" dirty="0"/>
              <a:t>Healthcare Providers</a:t>
            </a:r>
            <a:r>
              <a:rPr lang="en-IN" sz="3600" dirty="0"/>
              <a:t> – Doctors, clinics, and hospitals can use the analysis to understand patterns in patient visits and healthcare utilization. </a:t>
            </a:r>
          </a:p>
          <a:p>
            <a:pPr lvl="0"/>
            <a:r>
              <a:rPr lang="en-IN" sz="3600" b="1" dirty="0"/>
              <a:t>Hospital and Healthcare Administrators</a:t>
            </a:r>
            <a:r>
              <a:rPr lang="en-IN" sz="3600" dirty="0"/>
              <a:t> – They can use the insights for planning resources such as doctors, staff, facilities, and services. </a:t>
            </a:r>
          </a:p>
          <a:p>
            <a:pPr lvl="0"/>
            <a:r>
              <a:rPr lang="en-IN" sz="3600" b="1" dirty="0"/>
              <a:t>Healthcare Policy Makers</a:t>
            </a:r>
            <a:r>
              <a:rPr lang="en-IN" sz="3600" dirty="0"/>
              <a:t> – Government health departments and policymakers can use aggregated insights to understand healthcare-access patterns and support planning. </a:t>
            </a:r>
          </a:p>
          <a:p>
            <a:pPr lvl="0"/>
            <a:r>
              <a:rPr lang="en-IN" sz="3600" b="1" dirty="0"/>
              <a:t>Health Insurance Organizations</a:t>
            </a:r>
            <a:r>
              <a:rPr lang="en-IN" sz="3600" dirty="0"/>
              <a:t> – Insurance providers can </a:t>
            </a:r>
            <a:r>
              <a:rPr lang="en-IN" sz="3600" dirty="0" err="1"/>
              <a:t>analyze</a:t>
            </a:r>
            <a:r>
              <a:rPr lang="en-IN" sz="3600" dirty="0"/>
              <a:t> healthcare utilization patterns and understand relationships between insurance coverage and doctor visits. </a:t>
            </a:r>
          </a:p>
          <a:p>
            <a:pPr lvl="0"/>
            <a:r>
              <a:rPr lang="en-IN" sz="3600" b="1" dirty="0"/>
              <a:t>Healthcare Researchers</a:t>
            </a:r>
            <a:r>
              <a:rPr lang="en-IN" sz="3600" dirty="0"/>
              <a:t> – Researchers can use the dataset to study relationships between illness, chronic conditions, socioeconomic factors, and healthcare utilization. </a:t>
            </a:r>
          </a:p>
          <a:p>
            <a:pPr lvl="0"/>
            <a:r>
              <a:rPr lang="en-IN" sz="3600" b="1" dirty="0"/>
              <a:t>Data Analysts and Data Scientists</a:t>
            </a:r>
            <a:r>
              <a:rPr lang="en-IN" sz="3600" dirty="0"/>
              <a:t> – They can use the dataset to practice exploratory data analysis, visualization, statistical analysis, and predictive </a:t>
            </a:r>
            <a:r>
              <a:rPr lang="en-IN" sz="3600" dirty="0" err="1"/>
              <a:t>modeling</a:t>
            </a:r>
            <a:r>
              <a:rPr lang="en-IN" sz="3600" dirty="0"/>
              <a:t>. </a:t>
            </a:r>
          </a:p>
          <a:p>
            <a:pPr lvl="0"/>
            <a:r>
              <a:rPr lang="en-IN" sz="3600" b="1" dirty="0"/>
              <a:t>Healthcare Management Students/Researchers</a:t>
            </a:r>
            <a:r>
              <a:rPr lang="en-IN" sz="3600" dirty="0"/>
              <a:t> – The project can serve as an educational example of applying data analytics techniques to real-world healthcare data.</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2436125"/>
          </a:xfrm>
        </p:spPr>
        <p:txBody>
          <a:bodyPr>
            <a:normAutofit fontScale="85000" lnSpcReduction="10000"/>
          </a:bodyPr>
          <a:lstStyle/>
          <a:p>
            <a:pPr lvl="1">
              <a:lnSpc>
                <a:spcPct val="150000"/>
              </a:lnSpc>
            </a:pPr>
            <a:r>
              <a:rPr lang="en-US" dirty="0"/>
              <a:t>PYTHON</a:t>
            </a:r>
          </a:p>
          <a:p>
            <a:pPr lvl="1">
              <a:lnSpc>
                <a:spcPct val="150000"/>
              </a:lnSpc>
            </a:pPr>
            <a:r>
              <a:rPr lang="en-US" dirty="0"/>
              <a:t>SEABORN</a:t>
            </a:r>
          </a:p>
          <a:p>
            <a:pPr lvl="1">
              <a:lnSpc>
                <a:spcPct val="150000"/>
              </a:lnSpc>
            </a:pPr>
            <a:r>
              <a:rPr lang="en-US" dirty="0"/>
              <a:t>MATPLOT LIB</a:t>
            </a:r>
          </a:p>
          <a:p>
            <a:pPr lvl="1">
              <a:lnSpc>
                <a:spcPct val="150000"/>
              </a:lnSpc>
            </a:pPr>
            <a:r>
              <a:rPr lang="en-US" dirty="0"/>
              <a:t>PANDAS</a:t>
            </a:r>
          </a:p>
          <a:p>
            <a:pPr lvl="1">
              <a:lnSpc>
                <a:spcPct val="150000"/>
              </a:lnSpc>
            </a:pPr>
            <a:r>
              <a:rPr lang="en-US" dirty="0"/>
              <a:t>NUMPY</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0B2B7526-C654-A521-DFAA-F2CB290D36BE}"/>
              </a:ext>
            </a:extLst>
          </p:cNvPr>
          <p:cNvPicPr>
            <a:picLocks noChangeAspect="1"/>
          </p:cNvPicPr>
          <p:nvPr/>
        </p:nvPicPr>
        <p:blipFill>
          <a:blip r:embed="rId3"/>
          <a:stretch>
            <a:fillRect/>
          </a:stretch>
        </p:blipFill>
        <p:spPr>
          <a:xfrm>
            <a:off x="320982" y="1151163"/>
            <a:ext cx="3479741" cy="2703719"/>
          </a:xfrm>
          <a:prstGeom prst="rect">
            <a:avLst/>
          </a:prstGeom>
        </p:spPr>
      </p:pic>
      <p:pic>
        <p:nvPicPr>
          <p:cNvPr id="3" name="Picture 2">
            <a:extLst>
              <a:ext uri="{FF2B5EF4-FFF2-40B4-BE49-F238E27FC236}">
                <a16:creationId xmlns:a16="http://schemas.microsoft.com/office/drawing/2014/main" id="{1F803547-38C3-1551-AC6A-8317F9F51A11}"/>
              </a:ext>
            </a:extLst>
          </p:cNvPr>
          <p:cNvPicPr>
            <a:picLocks noChangeAspect="1"/>
          </p:cNvPicPr>
          <p:nvPr/>
        </p:nvPicPr>
        <p:blipFill>
          <a:blip r:embed="rId4"/>
          <a:stretch>
            <a:fillRect/>
          </a:stretch>
        </p:blipFill>
        <p:spPr>
          <a:xfrm>
            <a:off x="4882101" y="786087"/>
            <a:ext cx="4101818" cy="3240151"/>
          </a:xfrm>
          <a:prstGeom prst="rect">
            <a:avLst/>
          </a:prstGeom>
        </p:spPr>
      </p:pic>
      <p:pic>
        <p:nvPicPr>
          <p:cNvPr id="6" name="Picture 5">
            <a:extLst>
              <a:ext uri="{FF2B5EF4-FFF2-40B4-BE49-F238E27FC236}">
                <a16:creationId xmlns:a16="http://schemas.microsoft.com/office/drawing/2014/main" id="{B4E5ED2B-15F0-30E4-F890-E74684262270}"/>
              </a:ext>
            </a:extLst>
          </p:cNvPr>
          <p:cNvPicPr>
            <a:picLocks noChangeAspect="1"/>
          </p:cNvPicPr>
          <p:nvPr/>
        </p:nvPicPr>
        <p:blipFill>
          <a:blip r:embed="rId5"/>
          <a:stretch>
            <a:fillRect/>
          </a:stretch>
        </p:blipFill>
        <p:spPr>
          <a:xfrm>
            <a:off x="2913507" y="3928667"/>
            <a:ext cx="3144945" cy="2523722"/>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E5DBA-FEC0-B861-35A6-4C0097EF0E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B21E36-7A3E-BF6D-0C10-E2EB97B9437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CA605B4-B67F-003B-ED88-228368949D6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A1B5608C-3610-77E0-36B8-CE96C07779CA}"/>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DB42C704-EF00-ECE7-BB9D-5201C52BC66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0" name="Picture 9">
            <a:extLst>
              <a:ext uri="{FF2B5EF4-FFF2-40B4-BE49-F238E27FC236}">
                <a16:creationId xmlns:a16="http://schemas.microsoft.com/office/drawing/2014/main" id="{324799FF-6175-720C-6B1A-223FED5F3C5E}"/>
              </a:ext>
            </a:extLst>
          </p:cNvPr>
          <p:cNvPicPr>
            <a:picLocks noChangeAspect="1"/>
          </p:cNvPicPr>
          <p:nvPr/>
        </p:nvPicPr>
        <p:blipFill>
          <a:blip r:embed="rId3"/>
          <a:stretch>
            <a:fillRect/>
          </a:stretch>
        </p:blipFill>
        <p:spPr>
          <a:xfrm>
            <a:off x="5132525" y="814103"/>
            <a:ext cx="3883820" cy="3393690"/>
          </a:xfrm>
          <a:prstGeom prst="rect">
            <a:avLst/>
          </a:prstGeom>
        </p:spPr>
      </p:pic>
      <p:pic>
        <p:nvPicPr>
          <p:cNvPr id="11" name="Picture 10">
            <a:extLst>
              <a:ext uri="{FF2B5EF4-FFF2-40B4-BE49-F238E27FC236}">
                <a16:creationId xmlns:a16="http://schemas.microsoft.com/office/drawing/2014/main" id="{A9C93ED5-23F1-3579-B86F-81E88F0F198F}"/>
              </a:ext>
            </a:extLst>
          </p:cNvPr>
          <p:cNvPicPr>
            <a:picLocks noChangeAspect="1"/>
          </p:cNvPicPr>
          <p:nvPr/>
        </p:nvPicPr>
        <p:blipFill>
          <a:blip r:embed="rId4"/>
          <a:stretch>
            <a:fillRect/>
          </a:stretch>
        </p:blipFill>
        <p:spPr>
          <a:xfrm>
            <a:off x="511644" y="1353816"/>
            <a:ext cx="4227466" cy="2776019"/>
          </a:xfrm>
          <a:prstGeom prst="rect">
            <a:avLst/>
          </a:prstGeom>
        </p:spPr>
      </p:pic>
      <p:pic>
        <p:nvPicPr>
          <p:cNvPr id="12" name="Picture 11">
            <a:extLst>
              <a:ext uri="{FF2B5EF4-FFF2-40B4-BE49-F238E27FC236}">
                <a16:creationId xmlns:a16="http://schemas.microsoft.com/office/drawing/2014/main" id="{90AC9E80-DCFE-F29F-60D9-BD1BC2557C20}"/>
              </a:ext>
            </a:extLst>
          </p:cNvPr>
          <p:cNvPicPr>
            <a:picLocks noChangeAspect="1"/>
          </p:cNvPicPr>
          <p:nvPr/>
        </p:nvPicPr>
        <p:blipFill>
          <a:blip r:embed="rId5"/>
          <a:stretch>
            <a:fillRect/>
          </a:stretch>
        </p:blipFill>
        <p:spPr>
          <a:xfrm>
            <a:off x="1602415" y="4129835"/>
            <a:ext cx="3788569" cy="2487812"/>
          </a:xfrm>
          <a:prstGeom prst="rect">
            <a:avLst/>
          </a:prstGeom>
        </p:spPr>
      </p:pic>
    </p:spTree>
    <p:extLst>
      <p:ext uri="{BB962C8B-B14F-4D97-AF65-F5344CB8AC3E}">
        <p14:creationId xmlns:p14="http://schemas.microsoft.com/office/powerpoint/2010/main" val="2863599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C2277-284E-89C7-71E0-D0BFFE628D6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BD2AFB8-F338-B808-BB7A-2A327EDF563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FB9C9455-26EA-2081-10A8-0AACC2AF9696}"/>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19D84C74-E91D-CFB7-9715-924E2EF17FE8}"/>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640E6E2-85F0-4D96-2543-8BF7B11F3C4E}"/>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1867CEB8-109C-7441-A633-D748CD2CB43A}"/>
              </a:ext>
            </a:extLst>
          </p:cNvPr>
          <p:cNvSpPr txBox="1">
            <a:spLocks/>
          </p:cNvSpPr>
          <p:nvPr/>
        </p:nvSpPr>
        <p:spPr>
          <a:xfrm>
            <a:off x="422959" y="6091302"/>
            <a:ext cx="7154634" cy="452622"/>
          </a:xfrm>
          <a:prstGeom prst="rect">
            <a:avLst/>
          </a:prstGeom>
        </p:spPr>
        <p:txBody>
          <a:bodyPr vert="horz" lIns="91440" tIns="45720" rIns="91440" bIns="45720" rtlCol="0" anchor="t">
            <a:normAutofit fontScale="55000" lnSpcReduction="2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u="sng" dirty="0">
                <a:solidFill>
                  <a:srgbClr val="0070C0"/>
                </a:solidFill>
              </a:rPr>
              <a:t>- https://github.com/vaibhavishukla45-code/Healthcare-Analytics-for-Doctor-Visits.git</a:t>
            </a:r>
            <a:endParaRPr lang="en-IN" b="0" u="sng" dirty="0">
              <a:solidFill>
                <a:srgbClr val="0070C0"/>
              </a:solidFill>
            </a:endParaRPr>
          </a:p>
        </p:txBody>
      </p:sp>
      <p:pic>
        <p:nvPicPr>
          <p:cNvPr id="2" name="Picture 1">
            <a:extLst>
              <a:ext uri="{FF2B5EF4-FFF2-40B4-BE49-F238E27FC236}">
                <a16:creationId xmlns:a16="http://schemas.microsoft.com/office/drawing/2014/main" id="{F15D2707-C77A-C379-2EE5-45A568AB2406}"/>
              </a:ext>
            </a:extLst>
          </p:cNvPr>
          <p:cNvPicPr>
            <a:picLocks noChangeAspect="1"/>
          </p:cNvPicPr>
          <p:nvPr/>
        </p:nvPicPr>
        <p:blipFill>
          <a:blip r:embed="rId4"/>
          <a:stretch>
            <a:fillRect/>
          </a:stretch>
        </p:blipFill>
        <p:spPr>
          <a:xfrm>
            <a:off x="4763395" y="975819"/>
            <a:ext cx="4437762" cy="2869333"/>
          </a:xfrm>
          <a:prstGeom prst="rect">
            <a:avLst/>
          </a:prstGeom>
        </p:spPr>
      </p:pic>
      <p:pic>
        <p:nvPicPr>
          <p:cNvPr id="3" name="Picture 2">
            <a:extLst>
              <a:ext uri="{FF2B5EF4-FFF2-40B4-BE49-F238E27FC236}">
                <a16:creationId xmlns:a16="http://schemas.microsoft.com/office/drawing/2014/main" id="{736B2986-FE0D-38F6-8714-3B676B709AF1}"/>
              </a:ext>
            </a:extLst>
          </p:cNvPr>
          <p:cNvPicPr>
            <a:picLocks noChangeAspect="1"/>
          </p:cNvPicPr>
          <p:nvPr/>
        </p:nvPicPr>
        <p:blipFill>
          <a:blip r:embed="rId5"/>
          <a:stretch>
            <a:fillRect/>
          </a:stretch>
        </p:blipFill>
        <p:spPr>
          <a:xfrm>
            <a:off x="422959" y="1084986"/>
            <a:ext cx="4233795" cy="2344014"/>
          </a:xfrm>
          <a:prstGeom prst="rect">
            <a:avLst/>
          </a:prstGeom>
        </p:spPr>
      </p:pic>
      <p:pic>
        <p:nvPicPr>
          <p:cNvPr id="6" name="Picture 5">
            <a:extLst>
              <a:ext uri="{FF2B5EF4-FFF2-40B4-BE49-F238E27FC236}">
                <a16:creationId xmlns:a16="http://schemas.microsoft.com/office/drawing/2014/main" id="{6057F290-BCBC-85CE-8A0F-2FC1F75A0A9C}"/>
              </a:ext>
            </a:extLst>
          </p:cNvPr>
          <p:cNvPicPr>
            <a:picLocks noChangeAspect="1"/>
          </p:cNvPicPr>
          <p:nvPr/>
        </p:nvPicPr>
        <p:blipFill>
          <a:blip r:embed="rId6"/>
          <a:stretch>
            <a:fillRect/>
          </a:stretch>
        </p:blipFill>
        <p:spPr>
          <a:xfrm>
            <a:off x="2621528" y="3619385"/>
            <a:ext cx="3063912" cy="2471917"/>
          </a:xfrm>
          <a:prstGeom prst="rect">
            <a:avLst/>
          </a:prstGeom>
        </p:spPr>
      </p:pic>
    </p:spTree>
    <p:extLst>
      <p:ext uri="{BB962C8B-B14F-4D97-AF65-F5344CB8AC3E}">
        <p14:creationId xmlns:p14="http://schemas.microsoft.com/office/powerpoint/2010/main" val="3050417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606</TotalTime>
  <Words>491</Words>
  <Application>Microsoft Office PowerPoint</Application>
  <PresentationFormat>Widescreen</PresentationFormat>
  <Paragraphs>31</Paragraphs>
  <Slides>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Calibri</vt:lpstr>
      <vt:lpstr>Trebuchet MS</vt:lpstr>
      <vt:lpstr>Wingdings</vt:lpstr>
      <vt:lpstr>Wingdings 3</vt:lpstr>
      <vt:lpstr>Facet</vt:lpstr>
      <vt:lpstr>Project Title – Healthcare Analytics for Doctor Visits_TIRTC </vt:lpstr>
      <vt:lpstr>PROBLEM STATEMENT</vt:lpstr>
      <vt:lpstr>Project Description-  Healthcare analytics aims to understand the factors that influence patients' visits to doctors and healthcare facilities. The objective of this project is to analyze patient demographic, economic, health, and chronic-condition data to identify the key factors associated with the frequency of doctor visits. The dataset contains information such as gender, age, income, illness, reduced activity, general health status, private insurance coverage, free healthcare eligibility, and chronic illnesses. By analyzing these variables, the project seeks to understand patterns in healthcare utilization and determine which patient characteristics are associated with higher or lower numbers of doctor visits. The analysis can help identify healthcare utilization patterns, high-risk groups, and socioeconomic or health-related factors affecting access to and use of medical services. These insights can potentially support better healthcare planning, resource allocation, and patient-care strategies.   </vt:lpstr>
      <vt:lpstr>WHO ARE THE END USERS?</vt:lpstr>
      <vt:lpstr>Technology Used</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Vaibhavi Shukla</cp:lastModifiedBy>
  <cp:revision>74</cp:revision>
  <dcterms:created xsi:type="dcterms:W3CDTF">2021-07-11T13:13:15Z</dcterms:created>
  <dcterms:modified xsi:type="dcterms:W3CDTF">2026-09-17T16:30:36Z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